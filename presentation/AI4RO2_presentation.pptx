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199368c4e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199368c4e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199368c4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199368c4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199368c4e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199368c4e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199368c4e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199368c4e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199368c4e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199368c4e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199368c4e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199368c4e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it" sz="20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Warehouse Robotics – Capacity Constrained Transport</a:t>
            </a:r>
            <a:endParaRPr sz="20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2990975"/>
            <a:ext cx="4255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PDDL &amp; PDDL+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Luca Tassoni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 &amp; Domain Overview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862075"/>
            <a:ext cx="3268200" cy="26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/>
              <a:t>-Warehouse with </a:t>
            </a:r>
            <a:r>
              <a:rPr b="1" lang="it" sz="1500"/>
              <a:t>robots</a:t>
            </a:r>
            <a:r>
              <a:rPr lang="it" sz="1500"/>
              <a:t>, </a:t>
            </a:r>
            <a:r>
              <a:rPr b="1" lang="it" sz="1500"/>
              <a:t>packages</a:t>
            </a:r>
            <a:r>
              <a:rPr lang="it" sz="1500"/>
              <a:t> and </a:t>
            </a:r>
            <a:r>
              <a:rPr b="1" lang="it" sz="1500"/>
              <a:t>location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/>
              <a:t>-Robot collect packages and deliver them to </a:t>
            </a:r>
            <a:r>
              <a:rPr b="1" lang="it" sz="1500"/>
              <a:t>delivery stations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/>
              <a:t>-Each robot has </a:t>
            </a:r>
            <a:r>
              <a:rPr b="1" lang="it" sz="1500"/>
              <a:t>capacity</a:t>
            </a:r>
            <a:r>
              <a:rPr b="1" lang="it" sz="1500"/>
              <a:t> constraint</a:t>
            </a:r>
            <a:r>
              <a:rPr lang="it" sz="1500"/>
              <a:t> (weight, size)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500"/>
              <a:t>-</a:t>
            </a:r>
            <a:r>
              <a:rPr b="1" lang="it" sz="1500"/>
              <a:t>Goal</a:t>
            </a:r>
            <a:r>
              <a:rPr lang="it" sz="1500"/>
              <a:t>: minimize delivery trips by batching packages efficiently.</a:t>
            </a:r>
            <a:endParaRPr sz="1500"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290875"/>
            <a:ext cx="3268200" cy="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 sz="2500">
                <a:solidFill>
                  <a:schemeClr val="accent1"/>
                </a:solidFill>
              </a:rPr>
              <a:t>Scenario</a:t>
            </a:r>
            <a:endParaRPr b="1" sz="2500">
              <a:solidFill>
                <a:schemeClr val="accent1"/>
              </a:solidFill>
            </a:endParaRPr>
          </a:p>
        </p:txBody>
      </p:sp>
      <p:pic>
        <p:nvPicPr>
          <p:cNvPr id="286" name="Google Shape;286;p14" title="robot-arm-picks-up-box-autonomou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750275"/>
            <a:ext cx="4267203" cy="2844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2047350" y="0"/>
            <a:ext cx="5049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Classical PDDL Design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749925" y="1995600"/>
            <a:ext cx="3026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robot-at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package-at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loaded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delivery-station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756250" y="1570225"/>
            <a:ext cx="3012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Predicates</a:t>
            </a:r>
            <a:endParaRPr b="1" sz="2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4572000" y="1995588"/>
            <a:ext cx="3026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package-weight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package-size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robot current load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robot max capacity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4578325" y="1570213"/>
            <a:ext cx="3012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Numeric Functions</a:t>
            </a:r>
            <a:endParaRPr b="1" sz="2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1237425" y="3692675"/>
            <a:ext cx="25248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Move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Load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Unload</a:t>
            </a:r>
            <a:endParaRPr sz="16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243750" y="3267300"/>
            <a:ext cx="25248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Actions</a:t>
            </a:r>
            <a:endParaRPr b="1" sz="2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98" name="Google Shape;298;p15"/>
          <p:cNvCxnSpPr/>
          <p:nvPr/>
        </p:nvCxnSpPr>
        <p:spPr>
          <a:xfrm flipH="1" rot="10800000">
            <a:off x="2763925" y="3915000"/>
            <a:ext cx="1143000" cy="257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5"/>
          <p:cNvSpPr txBox="1"/>
          <p:nvPr/>
        </p:nvSpPr>
        <p:spPr>
          <a:xfrm>
            <a:off x="3906925" y="3596400"/>
            <a:ext cx="24300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first version produced one-package-per-trip solutions. Added action: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it" sz="1500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Delivery-trip</a:t>
            </a:r>
            <a:endParaRPr sz="15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 txBox="1"/>
          <p:nvPr>
            <p:ph type="title"/>
          </p:nvPr>
        </p:nvSpPr>
        <p:spPr>
          <a:xfrm>
            <a:off x="1303800" y="598575"/>
            <a:ext cx="70305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PDDL+ Extension</a:t>
            </a:r>
            <a:endParaRPr/>
          </a:p>
        </p:txBody>
      </p:sp>
      <p:sp>
        <p:nvSpPr>
          <p:cNvPr id="305" name="Google Shape;305;p16"/>
          <p:cNvSpPr txBox="1"/>
          <p:nvPr>
            <p:ph idx="1" type="body"/>
          </p:nvPr>
        </p:nvSpPr>
        <p:spPr>
          <a:xfrm>
            <a:off x="1303800" y="2571750"/>
            <a:ext cx="3430500" cy="19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loading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unloading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busy</a:t>
            </a:r>
            <a:endParaRPr b="1" sz="1600"/>
          </a:p>
        </p:txBody>
      </p:sp>
      <p:sp>
        <p:nvSpPr>
          <p:cNvPr id="306" name="Google Shape;306;p16"/>
          <p:cNvSpPr txBox="1"/>
          <p:nvPr>
            <p:ph idx="2" type="body"/>
          </p:nvPr>
        </p:nvSpPr>
        <p:spPr>
          <a:xfrm>
            <a:off x="4903650" y="2514200"/>
            <a:ext cx="34305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loading-progress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unloading-progress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temporary weight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it" sz="1600"/>
              <a:t>temporary size</a:t>
            </a:r>
            <a:endParaRPr b="1" sz="1600"/>
          </a:p>
        </p:txBody>
      </p:sp>
      <p:sp>
        <p:nvSpPr>
          <p:cNvPr id="307" name="Google Shape;307;p16"/>
          <p:cNvSpPr txBox="1"/>
          <p:nvPr/>
        </p:nvSpPr>
        <p:spPr>
          <a:xfrm>
            <a:off x="1394600" y="1376625"/>
            <a:ext cx="66315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Thi domain extends the classical model with temporal dynamics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1340700" y="1969700"/>
            <a:ext cx="34305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New predicates</a:t>
            </a:r>
            <a:endParaRPr b="1" sz="20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4903650" y="1997775"/>
            <a:ext cx="34305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and numeric fluents</a:t>
            </a:r>
            <a:endParaRPr b="1" sz="20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 txBox="1"/>
          <p:nvPr>
            <p:ph type="title"/>
          </p:nvPr>
        </p:nvSpPr>
        <p:spPr>
          <a:xfrm>
            <a:off x="1388550" y="449250"/>
            <a:ext cx="6366900" cy="7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Processes &amp; Events</a:t>
            </a:r>
            <a:endParaRPr sz="2500"/>
          </a:p>
        </p:txBody>
      </p:sp>
      <p:sp>
        <p:nvSpPr>
          <p:cNvPr id="315" name="Google Shape;315;p17"/>
          <p:cNvSpPr txBox="1"/>
          <p:nvPr>
            <p:ph idx="1" type="body"/>
          </p:nvPr>
        </p:nvSpPr>
        <p:spPr>
          <a:xfrm>
            <a:off x="1163925" y="2193975"/>
            <a:ext cx="20004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start-loading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start-unloading</a:t>
            </a: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1388550" y="1053150"/>
            <a:ext cx="63669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loading and unloading processes are modified in three components: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7"/>
          <p:cNvSpPr txBox="1"/>
          <p:nvPr>
            <p:ph idx="1" type="body"/>
          </p:nvPr>
        </p:nvSpPr>
        <p:spPr>
          <a:xfrm>
            <a:off x="3571800" y="2193975"/>
            <a:ext cx="21027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loading-process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unloading-process</a:t>
            </a:r>
            <a:endParaRPr/>
          </a:p>
        </p:txBody>
      </p:sp>
      <p:sp>
        <p:nvSpPr>
          <p:cNvPr id="318" name="Google Shape;318;p17"/>
          <p:cNvSpPr txBox="1"/>
          <p:nvPr>
            <p:ph idx="1" type="body"/>
          </p:nvPr>
        </p:nvSpPr>
        <p:spPr>
          <a:xfrm>
            <a:off x="5979675" y="2193975"/>
            <a:ext cx="2000400" cy="7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finish-loading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finish-unloading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 u="sng"/>
              <a:t>overload</a:t>
            </a:r>
            <a:endParaRPr u="sng"/>
          </a:p>
        </p:txBody>
      </p:sp>
      <p:sp>
        <p:nvSpPr>
          <p:cNvPr id="319" name="Google Shape;319;p17"/>
          <p:cNvSpPr txBox="1"/>
          <p:nvPr/>
        </p:nvSpPr>
        <p:spPr>
          <a:xfrm>
            <a:off x="1163925" y="1739475"/>
            <a:ext cx="2000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ACTION</a:t>
            </a:r>
            <a:endParaRPr b="1" sz="1300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3571800" y="1739475"/>
            <a:ext cx="2000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PROCESS</a:t>
            </a:r>
            <a:endParaRPr b="1" sz="1300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5979675" y="1739475"/>
            <a:ext cx="2000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EVENT</a:t>
            </a:r>
            <a:endParaRPr b="1" sz="1300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3578100" y="3351600"/>
            <a:ext cx="1987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Increase and decrease the progress functions over time.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3" name="Google Shape;323;p17"/>
          <p:cNvCxnSpPr>
            <a:endCxn id="322" idx="0"/>
          </p:cNvCxnSpPr>
          <p:nvPr/>
        </p:nvCxnSpPr>
        <p:spPr>
          <a:xfrm flipH="1">
            <a:off x="4572000" y="2969400"/>
            <a:ext cx="9900" cy="3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17"/>
          <p:cNvSpPr txBox="1"/>
          <p:nvPr/>
        </p:nvSpPr>
        <p:spPr>
          <a:xfrm>
            <a:off x="1322625" y="3351600"/>
            <a:ext cx="1987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Necessary to set the busy predicate to true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5" name="Google Shape;325;p17"/>
          <p:cNvCxnSpPr>
            <a:endCxn id="324" idx="0"/>
          </p:cNvCxnSpPr>
          <p:nvPr/>
        </p:nvCxnSpPr>
        <p:spPr>
          <a:xfrm flipH="1">
            <a:off x="2316525" y="2969400"/>
            <a:ext cx="9900" cy="3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17"/>
          <p:cNvSpPr txBox="1"/>
          <p:nvPr/>
        </p:nvSpPr>
        <p:spPr>
          <a:xfrm>
            <a:off x="5985975" y="3351675"/>
            <a:ext cx="1987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Triggered when the (un)loading-process is finished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7" name="Google Shape;327;p17"/>
          <p:cNvCxnSpPr>
            <a:endCxn id="326" idx="0"/>
          </p:cNvCxnSpPr>
          <p:nvPr/>
        </p:nvCxnSpPr>
        <p:spPr>
          <a:xfrm flipH="1">
            <a:off x="6979875" y="2969475"/>
            <a:ext cx="9900" cy="3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/>
          <p:nvPr>
            <p:ph idx="1" type="body"/>
          </p:nvPr>
        </p:nvSpPr>
        <p:spPr>
          <a:xfrm>
            <a:off x="1303800" y="4127325"/>
            <a:ext cx="5843100" cy="6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600"/>
              <a:t>Demo</a:t>
            </a:r>
            <a:endParaRPr b="1" sz="3600"/>
          </a:p>
        </p:txBody>
      </p:sp>
      <p:pic>
        <p:nvPicPr>
          <p:cNvPr id="333" name="Google Shape;333;p18" title="problem3-plan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172" y="507950"/>
            <a:ext cx="4997651" cy="34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 txBox="1"/>
          <p:nvPr>
            <p:ph type="title"/>
          </p:nvPr>
        </p:nvSpPr>
        <p:spPr>
          <a:xfrm>
            <a:off x="650825" y="612075"/>
            <a:ext cx="5652900" cy="10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Challenges &amp; Limitations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621250" y="1757875"/>
            <a:ext cx="1818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Challenges</a:t>
            </a:r>
            <a:endParaRPr b="1" sz="24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199150" y="2255875"/>
            <a:ext cx="26625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Planner compatibility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Quantifier support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Plan optimality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3283750" y="1799125"/>
            <a:ext cx="1818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Limitations</a:t>
            </a:r>
            <a:endParaRPr b="1" sz="24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2861650" y="2297125"/>
            <a:ext cx="26625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Greedy batching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Fully connected warehouse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 collision avoidance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1D representation of packages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 parallelism between multiple robots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5697350" y="1799125"/>
            <a:ext cx="1818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Future Work</a:t>
            </a:r>
            <a:endParaRPr b="1" sz="24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5275250" y="2297125"/>
            <a:ext cx="26625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Better optimization, optimal planner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More realistic navigation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Char char="-"/>
            </a:pPr>
            <a:r>
              <a:rPr lang="it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Parallelism with multiple robots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